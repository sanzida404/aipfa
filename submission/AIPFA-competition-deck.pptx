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1e89d35cd64e4d" /><Relationship Type="http://schemas.openxmlformats.org/officeDocument/2006/relationships/extended-properties" Target="/docProps/app.xml" Id="R9dba2ab258d04b77" /><Relationship Type="http://schemas.openxmlformats.org/officeDocument/2006/relationships/officeDocument" Target="/ppt/presentation.xml" Id="Rf2d81aa5a07c4f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9d891bef0443b"/>
  </p:sldMasterIdLst>
  <p:notesMasterIdLst>
    <p:notesMasterId xmlns:r="http://schemas.openxmlformats.org/officeDocument/2006/relationships" r:id="Rbdf8f7ddf7d3484e"/>
  </p:notesMasterIdLst>
  <p:sldIdLst>
    <p:sldId xmlns:r="http://schemas.openxmlformats.org/officeDocument/2006/relationships" id="256" r:id="R91f7868ef5324f1d"/>
    <p:sldId xmlns:r="http://schemas.openxmlformats.org/officeDocument/2006/relationships" id="257" r:id="R618e5171df9047e0"/>
    <p:sldId xmlns:r="http://schemas.openxmlformats.org/officeDocument/2006/relationships" id="258" r:id="R9db5ee4cad0d45f6"/>
    <p:sldId xmlns:r="http://schemas.openxmlformats.org/officeDocument/2006/relationships" id="259" r:id="R967438a68a354907"/>
    <p:sldId xmlns:r="http://schemas.openxmlformats.org/officeDocument/2006/relationships" id="260" r:id="R7f9b3c36c65d4de6"/>
    <p:sldId xmlns:r="http://schemas.openxmlformats.org/officeDocument/2006/relationships" id="261" r:id="R2595d7f3bde646a0"/>
    <p:sldId xmlns:r="http://schemas.openxmlformats.org/officeDocument/2006/relationships" id="262" r:id="R8d298febefd34b35"/>
    <p:sldId xmlns:r="http://schemas.openxmlformats.org/officeDocument/2006/relationships" id="263" r:id="Rba99c0d07f014b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d7e2cc8c2845e1" /><Relationship Type="http://schemas.openxmlformats.org/officeDocument/2006/relationships/slideMaster" Target="/ppt/slideMasters/slideMaster1.xml" Id="Rc589d891bef0443b" /><Relationship Type="http://schemas.openxmlformats.org/officeDocument/2006/relationships/notesMaster" Target="/ppt/notesMasters/notesMaster1.xml" Id="Rbdf8f7ddf7d3484e" /><Relationship Type="http://schemas.openxmlformats.org/officeDocument/2006/relationships/presProps" Target="/ppt/presProps.xml" Id="Rb75c97c414304256" /><Relationship Type="http://schemas.openxmlformats.org/officeDocument/2006/relationships/tableStyles" Target="/ppt/tableStyles.xml" Id="R04ef6cd56b2a4f83" /><Relationship Type="http://schemas.openxmlformats.org/officeDocument/2006/relationships/slide" Target="/ppt/slides/slide1.xml" Id="R91f7868ef5324f1d" /><Relationship Type="http://schemas.openxmlformats.org/officeDocument/2006/relationships/slide" Target="/ppt/slides/slide2.xml" Id="R618e5171df9047e0" /><Relationship Type="http://schemas.openxmlformats.org/officeDocument/2006/relationships/slide" Target="/ppt/slides/slide3.xml" Id="R9db5ee4cad0d45f6" /><Relationship Type="http://schemas.openxmlformats.org/officeDocument/2006/relationships/slide" Target="/ppt/slides/slide4.xml" Id="R967438a68a354907" /><Relationship Type="http://schemas.openxmlformats.org/officeDocument/2006/relationships/slide" Target="/ppt/slides/slide5.xml" Id="R7f9b3c36c65d4de6" /><Relationship Type="http://schemas.openxmlformats.org/officeDocument/2006/relationships/slide" Target="/ppt/slides/slide6.xml" Id="R2595d7f3bde646a0" /><Relationship Type="http://schemas.openxmlformats.org/officeDocument/2006/relationships/slide" Target="/ppt/slides/slide7.xml" Id="R8d298febefd34b35" /><Relationship Type="http://schemas.openxmlformats.org/officeDocument/2006/relationships/slide" Target="/ppt/slides/slide8.xml" Id="Rba99c0d07f014b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24312e26894a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e51536ff2e4fb8" /><Relationship Type="http://schemas.openxmlformats.org/officeDocument/2006/relationships/notesMaster" Target="/ppt/notesMasters/notesMaster1.xml" Id="Rfb59718428c747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435e44a5a046bd" /><Relationship Type="http://schemas.openxmlformats.org/officeDocument/2006/relationships/notesMaster" Target="/ppt/notesMasters/notesMaster1.xml" Id="Rf95ca252d2014e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57ee3cb5614557" /><Relationship Type="http://schemas.openxmlformats.org/officeDocument/2006/relationships/notesMaster" Target="/ppt/notesMasters/notesMaster1.xml" Id="R70100be5cbbc47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629ba13abc46ab" /><Relationship Type="http://schemas.openxmlformats.org/officeDocument/2006/relationships/notesMaster" Target="/ppt/notesMasters/notesMaster1.xml" Id="R4bce0a7ca0d74e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ae0ad121694b4c" /><Relationship Type="http://schemas.openxmlformats.org/officeDocument/2006/relationships/notesMaster" Target="/ppt/notesMasters/notesMaster1.xml" Id="Rbdef2093639645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87207eaa324751" /><Relationship Type="http://schemas.openxmlformats.org/officeDocument/2006/relationships/notesMaster" Target="/ppt/notesMasters/notesMaster1.xml" Id="R72df722e2bc64a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1c783cc07c4675" /><Relationship Type="http://schemas.openxmlformats.org/officeDocument/2006/relationships/notesMaster" Target="/ppt/notesMasters/notesMaster1.xml" Id="R817c69961c294a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d0b3aefc68407d" /><Relationship Type="http://schemas.openxmlformats.org/officeDocument/2006/relationships/notesMaster" Target="/ppt/notesMasters/notesMaster1.xml" Id="R65c4e1eab08141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introduce AIPFA as a personal finance assistant that combines a local transaction ledger with budgeting insights and optional AI interaction. Avoid claiming bank integration or automated financial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product scope in terms of common finance tasks. The assistant uses the user’s own ledger context when AI processing is enabled.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existing application flow. Emphasize that recommendations are informational, and transaction entry remains under user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arithmetic as implemented. Savings entries reduce balance but are not counted as ordinary budget spending. Budget alerts are deterministic rules, not investment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available in the live demo, scan a synthetic receipt, inspect the extracted amount and date, correct any error, and show that the transaction is not created until Add is pressed. AI extraction may be wrong.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the boundaries: the browser calls Express; SQLite stores account data; OpenRouter is used only for optional AI features; report files are generated by the server.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Disclose the key privacy boundary honestly: enabling AI means data leaves the application server. This self-assessment is not a certification or penetration test. Existing accounts retain prior AI-enabled behavior; a production release should use explicit opt-in.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product differentiators and the evidence still needed. Do not claim test cases have passed until they are run and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805236d7549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263a22d2b4c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3cebc5a174e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daa6a7bb849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1d372798b4b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6f11a8ee44a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54CA39-49D4-4D74-A823-542AD4EF04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57879A-FEC5-409B-B700-0BDBEA18CC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9446F4-2405-4799-BB47-3571F1026C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EBE352-F91B-4E3B-B070-BEF63D0386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F7BBD7-8A80-4485-86A1-537E524B80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CB1185-8130-4223-9FB6-0D2D672A8A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B57D5A-6F45-4EA9-A4AA-9FB747FD3A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C802FA-81B6-4A56-8762-E57E41BD40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6023BF-3F9E-45F8-AEC7-07D6FB7222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1359FB-C89C-4383-8949-CD9271CCD7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8ec2c9a78c41d2" /><Relationship Type="http://schemas.openxmlformats.org/officeDocument/2006/relationships/slideLayout" Target="/ppt/slideLayouts/slideLayout1.xml" Id="R2916dfb0c3e8423b" /><Relationship Type="http://schemas.openxmlformats.org/officeDocument/2006/relationships/slideLayout" Target="/ppt/slideLayouts/slideLayout2.xml" Id="R37ef6fc0df394968" /><Relationship Type="http://schemas.openxmlformats.org/officeDocument/2006/relationships/slideLayout" Target="/ppt/slideLayouts/slideLayout3.xml" Id="R22a975d9f1534ee5" /><Relationship Type="http://schemas.openxmlformats.org/officeDocument/2006/relationships/slideLayout" Target="/ppt/slideLayouts/slideLayout4.xml" Id="R48b87f9ea9a64a07" /><Relationship Type="http://schemas.openxmlformats.org/officeDocument/2006/relationships/slideLayout" Target="/ppt/slideLayouts/slideLayout5.xml" Id="R6bc53a6c95e942f5" /><Relationship Type="http://schemas.openxmlformats.org/officeDocument/2006/relationships/slideLayout" Target="/ppt/slideLayouts/slideLayout6.xml" Id="R6156690098d945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16dfb0c3e8423b"/>
    <p:sldLayoutId xmlns:r="http://schemas.openxmlformats.org/officeDocument/2006/relationships" id="2147483650" r:id="R37ef6fc0df394968"/>
    <p:sldLayoutId xmlns:r="http://schemas.openxmlformats.org/officeDocument/2006/relationships" id="2147483651" r:id="R22a975d9f1534ee5"/>
    <p:sldLayoutId xmlns:r="http://schemas.openxmlformats.org/officeDocument/2006/relationships" id="2147483652" r:id="R48b87f9ea9a64a07"/>
    <p:sldLayoutId xmlns:r="http://schemas.openxmlformats.org/officeDocument/2006/relationships" id="2147483653" r:id="R6bc53a6c95e942f5"/>
    <p:sldLayoutId xmlns:r="http://schemas.openxmlformats.org/officeDocument/2006/relationships" id="2147483654" r:id="R6156690098d945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b993840ca4078" /><Relationship Type="http://schemas.openxmlformats.org/officeDocument/2006/relationships/notesSlide" Target="/ppt/notesSlides/notesSlide1.xml" Id="R5d8c5d47484943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69d8179a2a4dd3" /><Relationship Type="http://schemas.openxmlformats.org/officeDocument/2006/relationships/notesSlide" Target="/ppt/notesSlides/notesSlide2.xml" Id="R7916a5d5e49b41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4b82f7089401e" /><Relationship Type="http://schemas.openxmlformats.org/officeDocument/2006/relationships/notesSlide" Target="/ppt/notesSlides/notesSlide3.xml" Id="Ra9a18d18d2da46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a74b3e2a84ed8" /><Relationship Type="http://schemas.openxmlformats.org/officeDocument/2006/relationships/notesSlide" Target="/ppt/notesSlides/notesSlide4.xml" Id="R7ca7b42971f44b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f1fba9961448c" /><Relationship Type="http://schemas.openxmlformats.org/officeDocument/2006/relationships/notesSlide" Target="/ppt/notesSlides/notesSlide5.xml" Id="R1f538e82b0e848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229b93c8141ab" /><Relationship Type="http://schemas.openxmlformats.org/officeDocument/2006/relationships/notesSlide" Target="/ppt/notesSlides/notesSlide6.xml" Id="R24deebaa4d5043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0118be58d4445a" /><Relationship Type="http://schemas.openxmlformats.org/officeDocument/2006/relationships/notesSlide" Target="/ppt/notesSlides/notesSlide7.xml" Id="Re540a6f15adc4b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6aad01ce884de8" /><Relationship Type="http://schemas.openxmlformats.org/officeDocument/2006/relationships/notesSlide" Target="/ppt/notesSlides/notesSlide8.xml" Id="Rae4d78d001ff4f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dge">
            <a:extLst xmlns:a="http://schemas.openxmlformats.org/drawingml/2006/main">
              <a:ext uri="{FF2B5EF4-FFF2-40B4-BE49-F238E27FC236}">
                <a16:creationId xmlns:a16="http://schemas.microsoft.com/office/drawing/2014/main" id="{B779C178-5A7B-464A-916A-90626213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80DDC-38D1-476C-BF63-C6099CC8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D7C1"/>
                </a:solidFill>
                <a:latin typeface="Aptos"/>
                <a:ea typeface="Aptos"/>
                <a:cs typeface="Aptos"/>
              </a:rPr>
              <a:t>COMPETITION SUBMISSION  ·  TOPIC A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B4E3E37-867B-4FD4-AB54-687B94A1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57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57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57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57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57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57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57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57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57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AIPFA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0F6741D-848D-4701-BDF7-66E9679C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28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28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28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28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28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28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28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28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28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AI Personal Finance Assistant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38B57794-D104-42D9-BF47-EDCEF416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99060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354B"/>
            </a:solidFill>
            <a:prstDash val="solid"/>
          </a:ln>
        </p:spPr>
      </p:sp>
      <p:sp>
        <p:nvSpPr>
          <p:cNvPr id="6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82039B05-D9A6-4326-800B-EF3D313A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Budget with context. Understand spending. Make the next decision clearer.</a:t>
            </a:r>
          </a:p>
        </p:txBody>
      </p:sp>
      <p:sp>
        <p:nvSpPr>
          <p:cNvPr id="7" name="cover-features">
            <a:extLst xmlns:a="http://schemas.openxmlformats.org/drawingml/2006/main">
              <a:ext uri="{FF2B5EF4-FFF2-40B4-BE49-F238E27FC236}">
                <a16:creationId xmlns:a16="http://schemas.microsoft.com/office/drawing/2014/main" id="{088CD0A4-FB9E-45C3-9363-3096550F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F9DB8"/>
                </a:solidFill>
                <a:latin typeface="Aptos"/>
                <a:ea typeface="Aptos"/>
                <a:cs typeface="Aptos"/>
              </a:rPr>
              <a:t>Personalized insights  ·  Bill scan suggestions  ·  Privacy-controlled AI  ·  Voice interaction</a:t>
            </a:r>
          </a:p>
        </p:txBody>
      </p:sp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E3790DFD-EDF1-4E32-8B3F-7CA9A1D0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9DB8"/>
                </a:solidFill>
                <a:latin typeface="Aptos"/>
                <a:ea typeface="Aptos"/>
                <a:cs typeface="Aptos"/>
              </a:rPr>
              <a:t>Product demo and technical overview</a:t>
            </a:r>
          </a:p>
        </p:txBody>
      </p:sp>
    </p:spTree>
    <p:extLst>
      <p:ext uri="{BB962C8B-B14F-4D97-AF65-F5344CB8AC3E}">
        <p14:creationId xmlns:p14="http://schemas.microsoft.com/office/powerpoint/2010/main" val="719264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accent-2">
            <a:extLst xmlns:a="http://schemas.openxmlformats.org/drawingml/2006/main">
              <a:ext uri="{FF2B5EF4-FFF2-40B4-BE49-F238E27FC236}">
                <a16:creationId xmlns:a16="http://schemas.microsoft.com/office/drawing/2014/main" id="{3E656E32-F5D0-45A0-BB14-62DE7843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7DA5E316-FFD6-41CD-A837-D3855417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Personal finance needs context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450278C-5BF2-492F-8A2C-D3EEC2EE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54B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45C23A1F-7400-4353-A9A8-78FCAF0A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AIPFA  /  AI PERSONAL FINANCE ASSISTANT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8F6BC545-83F6-4B57-985B-A2C47025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24244-9D75-48FF-8837-039EA574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24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24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24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24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24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24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24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24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24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 number alone does not tell a person what to do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A96ED-1435-4701-B63C-F5D40238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E82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E0466-8660-43D4-89DC-036B4872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381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E82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6C1AE-C104-4296-BFA1-E90D4EDA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622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Track the basics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D786E-3002-4DE0-B918-ABA51D41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Record income, expenses, savings, and a budget in one account.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71C48-5ED3-4BE3-9FE3-AFD9EFC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7D7C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53186-6DB9-4074-B02C-71AE7AD1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381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7D7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BBAAD-DD9C-498B-9FB2-FA87192D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Explain the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1048E-E3E6-4691-9667-73A06BD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480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Show category totals, daily pace, period comparisons, and budget alerts.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FFA37-72C6-418F-BF30-F4631BA1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3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0A7B0-1149-4B93-8250-7B9C3354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381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C3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FB853-3B89-4F90-A126-5B5E10F7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95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Support the next step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AAC1C-7DA5-4016-A105-04D32A7A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148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Offer a finance assistant, exportable reports, and optional bill scan suggestions.</a:t>
            </a:r>
          </a:p>
        </p:txBody>
      </p:sp>
    </p:spTree>
    <p:extLst>
      <p:ext uri="{BB962C8B-B14F-4D97-AF65-F5344CB8AC3E}">
        <p14:creationId xmlns:p14="http://schemas.microsoft.com/office/powerpoint/2010/main" val="1326554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accent-3">
            <a:extLst xmlns:a="http://schemas.openxmlformats.org/drawingml/2006/main">
              <a:ext uri="{FF2B5EF4-FFF2-40B4-BE49-F238E27FC236}">
                <a16:creationId xmlns:a16="http://schemas.microsoft.com/office/drawing/2014/main" id="{2F30A9BE-45A3-4C63-90F9-FA6453DC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161E8333-E0D9-447E-AE86-FCA9B376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One clear path from activity to action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46C364BB-208B-4BFB-B405-56EC610D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54B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D2D2ABF2-A3B6-44E1-B726-380D3763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AIPFA  /  AI PERSONAL FINANCE ASSISTANT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901E2DC7-1A77-4E42-99B1-F9831C80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124DD-643E-498D-A3F2-87F87D04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00375"/>
            <a:ext cx="83820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354B"/>
            </a:solidFill>
            <a:prstDash val="solid"/>
          </a:ln>
        </p:spPr>
      </p:sp>
      <p:sp>
        <p:nvSpPr>
          <p:cNvPr id="7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3D5A9636-10B4-4E30-BEE2-F27C258E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0"/>
          </a:solidFill>
          <a:ln xmlns:a="http://schemas.openxmlformats.org/drawingml/2006/main" w="28575">
            <a:solidFill>
              <a:srgbClr val="4E8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CCADB-3FFA-432D-BC54-2CD0DDE2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670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E82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D1306-C787-41F7-903B-F540C3FA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6940B-9839-4BDE-9380-F61D3859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Income, spending, savings</a:t>
            </a:r>
          </a:p>
        </p:txBody>
      </p:sp>
      <p:sp>
        <p:nvSpPr>
          <p:cNvPr id="11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31EC4D2A-BCEA-4147-BA73-AE884E0A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0"/>
          </a:solidFill>
          <a:ln xmlns:a="http://schemas.openxmlformats.org/drawingml/2006/main" w="28575">
            <a:solidFill>
              <a:srgbClr val="47D7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F50C2-AFBB-4968-98D9-6BFE7910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670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7D7C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5551A-8152-4EAD-804F-F9B7B5BC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86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EBFD9-733D-48FE-9BC6-3360B3A9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Monthly + daily budget</a:t>
            </a:r>
          </a:p>
        </p:txBody>
      </p:sp>
      <p:sp>
        <p:nvSpPr>
          <p:cNvPr id="15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3A173A35-A9B0-4CFB-99CE-F77AE796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0"/>
          </a:solidFill>
          <a:ln xmlns:a="http://schemas.openxmlformats.org/drawingml/2006/main" w="28575">
            <a:solidFill>
              <a:srgbClr val="FFC3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247CD-F5DA-4734-9DC2-83375299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670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C36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4B3A5-EF2B-4BC6-AD4E-169BE0EC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B6686-F115-4BEA-BC9F-927E7C80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05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Balance, pace, categories</a:t>
            </a:r>
          </a:p>
        </p:txBody>
      </p:sp>
      <p:sp>
        <p:nvSpPr>
          <p:cNvPr id="19" name="journey-node-4">
            <a:extLst xmlns:a="http://schemas.openxmlformats.org/drawingml/2006/main">
              <a:ext uri="{FF2B5EF4-FFF2-40B4-BE49-F238E27FC236}">
                <a16:creationId xmlns:a16="http://schemas.microsoft.com/office/drawing/2014/main" id="{445531A9-C33C-4490-97E1-1BEBBC48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0"/>
          </a:solidFill>
          <a:ln xmlns:a="http://schemas.openxmlformats.org/drawingml/2006/main" w="28575">
            <a:solidFill>
              <a:srgbClr val="4E8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3AE2C-7C2E-4C61-816D-3E12B81E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670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E82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5F4B36-0916-4046-B344-102F0D5D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0598A-CB47-411D-BAD9-13AC38C1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Adjust spending or save</a:t>
            </a:r>
          </a:p>
        </p:txBody>
      </p:sp>
      <p:sp>
        <p:nvSpPr>
          <p:cNvPr id="23" name="journey-node-5">
            <a:extLst xmlns:a="http://schemas.openxmlformats.org/drawingml/2006/main">
              <a:ext uri="{FF2B5EF4-FFF2-40B4-BE49-F238E27FC236}">
                <a16:creationId xmlns:a16="http://schemas.microsoft.com/office/drawing/2014/main" id="{B6392ECE-CA8D-41C9-AE30-7CCDF90F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0"/>
          </a:solidFill>
          <a:ln xmlns:a="http://schemas.openxmlformats.org/drawingml/2006/main" w="28575">
            <a:solidFill>
              <a:srgbClr val="47D7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4ECE75-E347-4C2B-AD3E-D7E618B5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670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7D7C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3089C5-EA3A-40A3-B112-408C1CD5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C4835-B5F7-4A8A-BD76-C3F6F54A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Share a period 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965885-DCDE-4572-BE14-9C630E4D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7D7C1"/>
                </a:solidFill>
                <a:latin typeface="Aptos"/>
                <a:ea typeface="Aptos"/>
                <a:cs typeface="Aptos"/>
              </a:rPr>
              <a:t>AI assistance is optional; the ledger and reports stay available when it is turned off.</a:t>
            </a:r>
          </a:p>
        </p:txBody>
      </p:sp>
    </p:spTree>
    <p:extLst>
      <p:ext uri="{BB962C8B-B14F-4D97-AF65-F5344CB8AC3E}">
        <p14:creationId xmlns:p14="http://schemas.microsoft.com/office/powerpoint/2010/main" val="224816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accent-4">
            <a:extLst xmlns:a="http://schemas.openxmlformats.org/drawingml/2006/main">
              <a:ext uri="{FF2B5EF4-FFF2-40B4-BE49-F238E27FC236}">
                <a16:creationId xmlns:a16="http://schemas.microsoft.com/office/drawing/2014/main" id="{62188D40-B077-4D01-8F02-D9DBF0A6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4107BA01-302E-4149-91A9-0B0907C8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 transparent finance engine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FE20A3FB-CAF1-449F-931C-A8F6A216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54B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37283637-58AF-4095-8DF8-405A29E2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AIPFA  /  AI PERSONAL FINANCE ASSISTANT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2C9847D4-DBB3-4315-BD2B-E35123AC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5D4FE-F8BC-48E5-9DB7-C81710B6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D7C1"/>
                </a:solidFill>
                <a:latin typeface="Aptos"/>
                <a:ea typeface="Aptos"/>
                <a:cs typeface="Aptos"/>
              </a:rPr>
              <a:t>BALANCE CALCULATION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F980A-1F83-4119-9F7D-62B0DB1E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Available balance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FACF1-21DB-4976-8CFE-7F648153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defPPr>
            <a:lvl1pPr>
              <a:defRPr sz="22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1pPr>
            <a:lvl2pPr>
              <a:defRPr sz="22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2pPr>
            <a:lvl3pPr>
              <a:defRPr sz="22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3pPr>
            <a:lvl4pPr>
              <a:defRPr sz="22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4pPr>
            <a:lvl5pPr>
              <a:defRPr sz="22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5pPr>
            <a:lvl6pPr>
              <a:defRPr sz="22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6pPr>
            <a:lvl7pPr>
              <a:defRPr sz="22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7pPr>
            <a:lvl8pPr>
              <a:defRPr sz="22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8pPr>
            <a:lvl9pPr>
              <a:defRPr sz="22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7D7C1"/>
                </a:solidFill>
                <a:latin typeface="Aptos"/>
                <a:ea typeface="Aptos"/>
                <a:cs typeface="Aptos"/>
              </a:rPr>
              <a:t>= income − spending − savings set aside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02487-FDFB-4520-B7FE-C7FB4CE6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00965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35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92233-CDD5-4DA8-BF24-A46A0247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85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2A1B8-5208-4E2D-8085-D5BAC19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Accounting periods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9D24B-6CDE-4354-AD2B-E6C76174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Anchored to the first income date; the period ends before the next monthly anchor.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0D7EF-E8A7-4915-B75E-78E355D0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285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1D1BA-E59B-4F7C-9174-4A586C94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Budget 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5BA4A-6FE7-4AA9-9B3D-12333D2E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Compares spend-to-date and daily pace against the selected period budget.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06A3E-9069-4B5F-A959-3F817487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285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E7646-F01C-4E4B-8A46-8DD6E2DD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Actionable alerts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5B9ED-A275-453B-9B5E-92CAFFEB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300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Highlights over-budget periods, high category shares, and projected overspend.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340BE-0D4D-4541-B057-89B1F572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F9DB8"/>
                </a:solidFill>
                <a:latin typeface="Aptos"/>
                <a:ea typeface="Aptos"/>
                <a:cs typeface="Aptos"/>
              </a:rPr>
              <a:t>Heuristics explain the signal; they do not guarantee a financial outcome.</a:t>
            </a:r>
          </a:p>
        </p:txBody>
      </p:sp>
    </p:spTree>
    <p:extLst>
      <p:ext uri="{BB962C8B-B14F-4D97-AF65-F5344CB8AC3E}">
        <p14:creationId xmlns:p14="http://schemas.microsoft.com/office/powerpoint/2010/main" val="15244219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accent-5">
            <a:extLst xmlns:a="http://schemas.openxmlformats.org/drawingml/2006/main">
              <a:ext uri="{FF2B5EF4-FFF2-40B4-BE49-F238E27FC236}">
                <a16:creationId xmlns:a16="http://schemas.microsoft.com/office/drawing/2014/main" id="{7FEB8BA0-B70F-430D-8094-785101FF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4B9061A8-DA50-4977-808B-3687E2B4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Bill scan suggests; the user confirms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C476AB2A-2800-4753-BBE9-317D5299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54B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74D0378F-1F0E-4614-96A1-5EBC90D6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AIPFA  /  AI PERSONAL FINANCE ASSISTANT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DBCC0EA8-DD45-4EFB-A613-1066E652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C4619-D162-4017-A9C1-9B98A01A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E82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15DBB-B728-4D13-A559-52191AF4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07645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E8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9C170-DD95-47EE-BB64-CC4815B5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Choose 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EFE93-22C1-4C4E-8C80-329C172B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JPEG · PNG · WebP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E748E-AC46-498D-AB82-EB875A69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621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7D7C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212B4-A427-4E15-9606-75190C04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0300"/>
            <a:ext cx="207645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D7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4D3FE-3B1C-4784-86E7-74F6537F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AI extracts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C5529-67BD-4E5F-A66E-A9CF0CFB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Total · vendor · date · category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CE868-6EBB-4A91-B79F-EB7AC5EA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3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4496F-8B45-4F75-BF11-2E30C590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207645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C3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F70FB-B8D7-4F4A-B0C3-6F7AB1E3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Review 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DD75F-E3A1-4FAB-9651-B51D8D9A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Edit any field before saving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018135-B8E6-48A3-8EC3-3AAB433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621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E82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3C7B0-8441-4883-9FCC-820CF178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07645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E82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667CC-CFD4-438C-AF1E-57E6FB9B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User adds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5F6A3-3D95-434A-B962-77DD4F86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Only Add writes the transaction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36D8B-27A8-482D-A628-37AB8981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47D7C1"/>
                </a:solidFill>
                <a:latin typeface="Aptos"/>
                <a:ea typeface="Aptos"/>
                <a:cs typeface="Aptos"/>
              </a:rPr>
              <a:t>No automatic transaction creation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D6071B-D65E-4132-A8DD-0998D1A2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F9DB8"/>
                </a:solidFill>
                <a:latin typeface="Aptos"/>
                <a:ea typeface="Aptos"/>
                <a:cs typeface="Aptos"/>
              </a:rPr>
              <a:t>A non-USD total is converted to the app’s USD ledger currency using an indicative live rate. Check the amount and date.</a:t>
            </a:r>
          </a:p>
        </p:txBody>
      </p:sp>
    </p:spTree>
    <p:extLst>
      <p:ext uri="{BB962C8B-B14F-4D97-AF65-F5344CB8AC3E}">
        <p14:creationId xmlns:p14="http://schemas.microsoft.com/office/powerpoint/2010/main" val="1550173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accent-6">
            <a:extLst xmlns:a="http://schemas.openxmlformats.org/drawingml/2006/main">
              <a:ext uri="{FF2B5EF4-FFF2-40B4-BE49-F238E27FC236}">
                <a16:creationId xmlns:a16="http://schemas.microsoft.com/office/drawing/2014/main" id="{C8BE76A5-3DB1-4C74-9A76-11931B4A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E3DFD829-866D-4CC8-BD78-48F7528F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 small, auditable application architecture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6807A4F2-AB78-4248-AF31-A04E9533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54B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A05D04FD-DA0E-49A3-BD10-52E706F7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AIPFA  /  AI PERSONAL FINANCE ASSISTANT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766A5E90-5188-40A3-8A4C-4D62469F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architecture-box-0">
            <a:extLst xmlns:a="http://schemas.openxmlformats.org/drawingml/2006/main">
              <a:ext uri="{FF2B5EF4-FFF2-40B4-BE49-F238E27FC236}">
                <a16:creationId xmlns:a16="http://schemas.microsoft.com/office/drawing/2014/main" id="{6FF549E4-27F4-48D4-BD71-3D6DEE47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420"/>
          </a:solidFill>
          <a:ln xmlns:a="http://schemas.openxmlformats.org/drawingml/2006/main" w="19050">
            <a:solidFill>
              <a:srgbClr val="4E8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CD329-07D4-4B92-8AAA-9559A77F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Browser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5DF73-84ED-4258-B495-71DCBCBF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Forms · dashboard · voice</a:t>
            </a:r>
          </a:p>
        </p:txBody>
      </p:sp>
      <p:sp>
        <p:nvSpPr>
          <p:cNvPr id="9" name="architecture-box-1">
            <a:extLst xmlns:a="http://schemas.openxmlformats.org/drawingml/2006/main">
              <a:ext uri="{FF2B5EF4-FFF2-40B4-BE49-F238E27FC236}">
                <a16:creationId xmlns:a16="http://schemas.microsoft.com/office/drawing/2014/main" id="{D5D3F9F3-65D5-46AC-8A4D-866BAD7D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05050"/>
            <a:ext cx="2362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420"/>
          </a:solidFill>
          <a:ln xmlns:a="http://schemas.openxmlformats.org/drawingml/2006/main" w="19050">
            <a:solidFill>
              <a:srgbClr val="47D7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9E85E-203D-45A2-BABA-4F9147DE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57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9283F-F36E-4101-84BD-BD013F0E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Auth · validation · insights</a:t>
            </a:r>
          </a:p>
        </p:txBody>
      </p:sp>
      <p:sp>
        <p:nvSpPr>
          <p:cNvPr id="12" name="architecture-box-2">
            <a:extLst xmlns:a="http://schemas.openxmlformats.org/drawingml/2006/main">
              <a:ext uri="{FF2B5EF4-FFF2-40B4-BE49-F238E27FC236}">
                <a16:creationId xmlns:a16="http://schemas.microsoft.com/office/drawing/2014/main" id="{DC5BB286-F039-4B2D-9C9A-CC0EF9AB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19250"/>
            <a:ext cx="2133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420"/>
          </a:solidFill>
          <a:ln xmlns:a="http://schemas.openxmlformats.org/drawingml/2006/main" w="19050">
            <a:solidFill>
              <a:srgbClr val="FFC3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84515-0FC1-4D6C-980A-836B9C2B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716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0BA23-CDD8-4890-94E4-DBBD4FB9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336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Per-user ledger + sessions</a:t>
            </a:r>
          </a:p>
        </p:txBody>
      </p:sp>
      <p:sp>
        <p:nvSpPr>
          <p:cNvPr id="15" name="architecture-box-3">
            <a:extLst xmlns:a="http://schemas.openxmlformats.org/drawingml/2006/main">
              <a:ext uri="{FF2B5EF4-FFF2-40B4-BE49-F238E27FC236}">
                <a16:creationId xmlns:a16="http://schemas.microsoft.com/office/drawing/2014/main" id="{8646322D-5D8E-4F61-90CC-8B8C4E5B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43250"/>
            <a:ext cx="2133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420"/>
          </a:solidFill>
          <a:ln xmlns:a="http://schemas.openxmlformats.org/drawingml/2006/main" w="19050">
            <a:solidFill>
              <a:srgbClr val="FF737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29F5B-059D-475C-A551-584575B6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OpenRouter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E5C45-E294-49DE-AB4A-E7F60755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576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Optional AI processing</a:t>
            </a:r>
          </a:p>
        </p:txBody>
      </p:sp>
      <p:sp>
        <p:nvSpPr>
          <p:cNvPr id="18" name="architecture-box-4">
            <a:extLst xmlns:a="http://schemas.openxmlformats.org/drawingml/2006/main">
              <a:ext uri="{FF2B5EF4-FFF2-40B4-BE49-F238E27FC236}">
                <a16:creationId xmlns:a16="http://schemas.microsoft.com/office/drawing/2014/main" id="{841D2BF7-2660-48D8-A4EA-484C9414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67250"/>
            <a:ext cx="2133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420"/>
          </a:solidFill>
          <a:ln xmlns:a="http://schemas.openxmlformats.org/drawingml/2006/main" w="19050">
            <a:solidFill>
              <a:srgbClr val="4E8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7AD45-BD5A-4595-ABBC-B4A2797D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196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Local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254CE-6074-4731-9997-1313DB6A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816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Reports · TTS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9C042-1176-4BDA-A651-36F0079F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38450"/>
            <a:ext cx="9334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9D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4922DA-5C4C-455F-95DE-05C294B7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9D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D43876-C873-4D2E-99C0-F24F27AB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9D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0D592-38C2-47EB-9D6C-7FD8DCB3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9D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05E163-EB48-4B85-AFF2-24CC2F77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9D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F8F268-B320-4C97-B8B0-BFC123B4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9D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928343-FC5B-4DB7-B29B-1D55ECF1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AI access follows the account permission setting. Core ledger and report operations remain local to the app.</a:t>
            </a:r>
          </a:p>
        </p:txBody>
      </p:sp>
    </p:spTree>
    <p:extLst>
      <p:ext uri="{BB962C8B-B14F-4D97-AF65-F5344CB8AC3E}">
        <p14:creationId xmlns:p14="http://schemas.microsoft.com/office/powerpoint/2010/main" val="1855251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accent-7">
            <a:extLst xmlns:a="http://schemas.openxmlformats.org/drawingml/2006/main">
              <a:ext uri="{FF2B5EF4-FFF2-40B4-BE49-F238E27FC236}">
                <a16:creationId xmlns:a16="http://schemas.microsoft.com/office/drawing/2014/main" id="{FE046556-4C2C-4B77-8788-3786A50B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695FC850-9B1E-4DA3-91B4-E9BE7F33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Security controls and permission levels</a:t>
            </a:r>
          </a:p>
        </p:txBody>
      </p:sp>
      <p:sp>
        <p:nvSpPr>
          <p:cNvPr id="3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E0E899B3-6014-4FA5-A5B8-2E180E71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54B"/>
            </a:solidFill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47845C93-60B3-4FBC-AFFF-00C1CBCB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AIPFA  /  AI PERSONAL FINANCE ASSISTANT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6ABBB3D9-EFDC-4057-B0CE-744274EF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3B6C9-D137-468B-983E-D314FA9A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D7C1"/>
                </a:solidFill>
                <a:latin typeface="Aptos"/>
                <a:ea typeface="Aptos"/>
                <a:cs typeface="Aptos"/>
              </a:rPr>
              <a:t>CORE ACCOUNT — LOCAL LEDGER AND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A50A5-F885-463F-9126-3572E125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Authenticated access · user-scoped queries · bcrypt password hashes · hashed session tokens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EA85D-D153-4442-93AC-2125C8A0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100965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35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A673F-0AB9-4D2F-AE9C-F64A8DA4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C36A"/>
                </a:solidFill>
                <a:latin typeface="Aptos"/>
                <a:ea typeface="Aptos"/>
                <a:cs typeface="Aptos"/>
              </a:rPr>
              <a:t>AI-ENABLED ACCOUNT — OPTIONAL EXTERNAL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D3295-E130-42F7-81B0-7F3FF6D2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AI chat context and selected bill images may be sent to the configured provider. The Account setting can disable both.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1EC8A-6469-4CDF-8122-34E01D1D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E82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7D17B-123C-4616-B507-64D49232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HTTPS + secure cookie in production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95D27-A7D4-42B8-BF93-D354DB5A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305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E82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4E01B-24B9-4E67-9605-7B5F75BA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05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Input validation + request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C22C3-59CD-42A3-8AC7-BA349528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E82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52A2A-CCCA-4FDC-8DF2-A3DB870C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Rate limits + security headers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A1D6B-AE8E-4DAA-9168-E29FFF7E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876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7D7C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140F8-37E2-4209-AA5E-3E9BD3E0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8768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User review before bill transaction save</a:t>
            </a:r>
          </a:p>
        </p:txBody>
      </p:sp>
    </p:spTree>
    <p:extLst>
      <p:ext uri="{BB962C8B-B14F-4D97-AF65-F5344CB8AC3E}">
        <p14:creationId xmlns:p14="http://schemas.microsoft.com/office/powerpoint/2010/main" val="944451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accent-8">
            <a:extLst xmlns:a="http://schemas.openxmlformats.org/drawingml/2006/main">
              <a:ext uri="{FF2B5EF4-FFF2-40B4-BE49-F238E27FC236}">
                <a16:creationId xmlns:a16="http://schemas.microsoft.com/office/drawing/2014/main" id="{5A1787F0-4081-4C9F-BECF-D62EDC7B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F84F8D99-66D4-4A79-9B5A-25690E3D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Interaction designed around the user</a:t>
            </a:r>
          </a:p>
        </p:txBody>
      </p:sp>
      <p:sp>
        <p:nvSpPr>
          <p:cNvPr id="3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0E49E20D-1496-4F14-9E43-95005016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54B"/>
            </a:solidFill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1F475CE6-DC97-427B-90B1-449E8900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AIPFA  /  AI PERSONAL FINANCE ASSISTANT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437CF4A8-E850-4BED-937C-23099B39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F9D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F9D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B0663-B2AE-4581-B73A-D0E20385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E82FF"/>
                </a:solidFill>
                <a:latin typeface="Aptos"/>
                <a:ea typeface="Aptos"/>
                <a:cs typeface="Aptos"/>
              </a:rPr>
              <a:t>Personalized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FCF9D-A94E-4ED5-A783-708A6934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8112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Budget and spending feedback based on the user’s own ledger.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EF719-CE5D-4211-806F-27DDDDCD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7D7C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7D7C1"/>
                </a:solidFill>
                <a:latin typeface="Aptos"/>
                <a:ea typeface="Aptos"/>
                <a:cs typeface="Aptos"/>
              </a:rPr>
              <a:t>Multimodal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AA06F-2C9B-434F-A208-BFD6F61F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1932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Optional voice input/output and bill image extraction.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11BA5-419F-44C5-846E-E3E18444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C36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36A"/>
                </a:solidFill>
                <a:latin typeface="Aptos"/>
                <a:ea typeface="Aptos"/>
                <a:cs typeface="Aptos"/>
              </a:rPr>
              <a:t>Accessible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2F7E3-246B-4AE0-9EC6-D0208051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5752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Installable PWA and multilingual voice support.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810D6-5E08-44A0-942D-E90FD917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E82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E82FF"/>
                </a:solidFill>
                <a:latin typeface="Aptos"/>
                <a:ea typeface="Aptos"/>
                <a:cs typeface="Aptos"/>
              </a:rPr>
              <a:t>User-controlled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0F35C-6A91-4540-9886-170CE24D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9572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5D0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5D0E5"/>
                </a:solidFill>
                <a:latin typeface="Aptos"/>
                <a:ea typeface="Aptos"/>
                <a:cs typeface="Aptos"/>
              </a:rPr>
              <a:t>Editable scan suggestions; no automatic financial actions.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200E3-5F0E-4215-ADB2-DBB84E4B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00584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35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4EBBD-5CF7-4909-B011-7A886D86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Before submission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1DD12-7E3F-4B7E-BB74-C289CFCC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62550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FFC36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FFC36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FFC36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FFC36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FFC36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FFC36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FFC36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FFC36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FFC36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FFC36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C3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C36A"/>
                </a:solidFill>
                <a:latin typeface="Aptos"/>
                <a:ea typeface="Aptos"/>
                <a:cs typeface="Aptos"/>
              </a:rPr>
              <a:t>Run the documented test cases · capture sandbox logs · record a demo under 10 minutes · verify deployment secrets</a:t>
            </a:r>
          </a:p>
        </p:txBody>
      </p:sp>
    </p:spTree>
    <p:extLst>
      <p:ext uri="{BB962C8B-B14F-4D97-AF65-F5344CB8AC3E}">
        <p14:creationId xmlns:p14="http://schemas.microsoft.com/office/powerpoint/2010/main" val="2054220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2026-10-19T01:30:26.0560000Z</dcterms:created>
  <dcterms:modified xsi:type="dcterms:W3CDTF">2026-10-19T01:30:26.0560000Z</dcterms:modified>
</coreProperties>
</file>